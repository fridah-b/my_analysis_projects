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9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y_analysis_projects\bcg_sim_analysis\Campaign_Data_Wee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my_analysis_projects\bcg_sim_analysis\Campaign_Data_Wee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[Campaign_Data_Week1.xlsx]Channel_Campaign_Pivot_Tables!PivotTable1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sz="1800" b="1">
                <a:solidFill>
                  <a:schemeClr val="tx1"/>
                </a:solidFill>
              </a:rPr>
              <a:t>Total Revenue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Channel_Campaign_Pivot_Tables!$B$3:$B$4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Channel_Campaign_Pivot_Tables!$A$5:$A$8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Channel_Campaign_Pivot_Tables!$B$5:$B$8</c:f>
              <c:numCache>
                <c:formatCode>_-[$$-409]* #,##0.00_ ;_-[$$-409]* \-#,##0.00\ ;_-[$$-409]* "-"??_ ;_-@_ </c:formatCode>
                <c:ptCount val="3"/>
                <c:pt idx="0">
                  <c:v>2952.37</c:v>
                </c:pt>
                <c:pt idx="1">
                  <c:v>2162.9000000000005</c:v>
                </c:pt>
                <c:pt idx="2">
                  <c:v>754.29</c:v>
                </c:pt>
              </c:numCache>
            </c:numRef>
          </c:val>
        </c:ser>
        <c:ser>
          <c:idx val="1"/>
          <c:order val="1"/>
          <c:tx>
            <c:strRef>
              <c:f>Channel_Campaign_Pivot_Tables!$C$3:$C$4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Channel_Campaign_Pivot_Tables!$A$5:$A$8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Channel_Campaign_Pivot_Tables!$C$5:$C$8</c:f>
              <c:numCache>
                <c:formatCode>_-[$$-409]* #,##0.00_ ;_-[$$-409]* \-#,##0.00\ ;_-[$$-409]* "-"??_ ;_-@_ </c:formatCode>
                <c:ptCount val="3"/>
                <c:pt idx="0">
                  <c:v>4956.9399999999996</c:v>
                </c:pt>
                <c:pt idx="1">
                  <c:v>1710.5100000000004</c:v>
                </c:pt>
                <c:pt idx="2">
                  <c:v>2122.5899999999997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8716856"/>
        <c:axId val="138717248"/>
      </c:barChart>
      <c:catAx>
        <c:axId val="138716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717248"/>
        <c:crosses val="autoZero"/>
        <c:auto val="1"/>
        <c:lblAlgn val="ctr"/>
        <c:lblOffset val="100"/>
        <c:noMultiLvlLbl val="0"/>
      </c:catAx>
      <c:valAx>
        <c:axId val="13871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716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noFill/>
      <a:round/>
    </a:ln>
    <a:effectLst>
      <a:outerShdw blurRad="50800" dist="38100" dir="2700000" algn="tl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[Campaign_Data_Week1.xlsx]Channel_Campaign_Pivot_Tables!PivotTable3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Conversions by Volume Share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</c:pivotFmt>
      <c:pivotFmt>
        <c:idx val="4"/>
      </c:pivotFmt>
      <c:pivotFmt>
        <c:idx val="5"/>
      </c:pivotFmt>
      <c:pivotFmt>
        <c:idx val="6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</c:pivotFmt>
      <c:pivotFmt>
        <c:idx val="8"/>
      </c:pivotFmt>
      <c:pivotFmt>
        <c:idx val="9"/>
      </c:pivotFmt>
      <c:pivotFmt>
        <c:idx val="10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4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5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6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8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9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0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2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3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4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6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7"/>
        <c:spPr>
          <a:solidFill>
            <a:schemeClr val="accent4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Channel_Campaign_Pivot_Tables!$B$15:$B$16</c:f>
              <c:strCache>
                <c:ptCount val="1"/>
                <c:pt idx="0">
                  <c:v>A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65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4">
                  <a:shade val="65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Channel_Campaign_Pivot_Tables!$A$17:$A$20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Channel_Campaign_Pivot_Tables!$B$17:$B$20</c:f>
              <c:numCache>
                <c:formatCode>General</c:formatCode>
                <c:ptCount val="3"/>
                <c:pt idx="0">
                  <c:v>41</c:v>
                </c:pt>
                <c:pt idx="1">
                  <c:v>35</c:v>
                </c:pt>
                <c:pt idx="2">
                  <c:v>17</c:v>
                </c:pt>
              </c:numCache>
            </c:numRef>
          </c:val>
        </c:ser>
        <c:ser>
          <c:idx val="1"/>
          <c:order val="1"/>
          <c:tx>
            <c:strRef>
              <c:f>Channel_Campaign_Pivot_Tables!$C$15:$C$16</c:f>
              <c:strCache>
                <c:ptCount val="1"/>
                <c:pt idx="0">
                  <c:v>B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65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4">
                  <a:shade val="65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Channel_Campaign_Pivot_Tables!$A$17:$A$20</c:f>
              <c:strCache>
                <c:ptCount val="3"/>
                <c:pt idx="0">
                  <c:v>Email</c:v>
                </c:pt>
                <c:pt idx="1">
                  <c:v>Instagram</c:v>
                </c:pt>
                <c:pt idx="2">
                  <c:v>Web Banner</c:v>
                </c:pt>
              </c:strCache>
            </c:strRef>
          </c:cat>
          <c:val>
            <c:numRef>
              <c:f>Channel_Campaign_Pivot_Tables!$C$17:$C$20</c:f>
              <c:numCache>
                <c:formatCode>General</c:formatCode>
                <c:ptCount val="3"/>
                <c:pt idx="0">
                  <c:v>72</c:v>
                </c:pt>
                <c:pt idx="1">
                  <c:v>29</c:v>
                </c:pt>
                <c:pt idx="2">
                  <c:v>45</c:v>
                </c:pt>
              </c:numCache>
            </c:numRef>
          </c:val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26E1F8-2844-4E18-ABFD-545F1F8A132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8773D96-28E8-4E75-BCC0-A8989AE7991F}">
      <dgm:prSet phldrT="[Text]"/>
      <dgm:spPr/>
      <dgm:t>
        <a:bodyPr/>
        <a:lstStyle/>
        <a:p>
          <a:r>
            <a:rPr lang="en-GB" b="1" dirty="0" smtClean="0"/>
            <a:t>Baseline Conversion Rate</a:t>
          </a:r>
        </a:p>
        <a:p>
          <a:r>
            <a:rPr lang="en-GB" b="1" dirty="0" smtClean="0"/>
            <a:t>48%</a:t>
          </a:r>
          <a:endParaRPr lang="en-GB" dirty="0"/>
        </a:p>
      </dgm:t>
    </dgm:pt>
    <dgm:pt modelId="{CCFEFD3E-E9F4-43FC-B011-CD22E9D8BE90}" type="parTrans" cxnId="{4C951FCB-F75F-4512-ACCE-6DD676EC5D12}">
      <dgm:prSet/>
      <dgm:spPr/>
      <dgm:t>
        <a:bodyPr/>
        <a:lstStyle/>
        <a:p>
          <a:endParaRPr lang="en-GB"/>
        </a:p>
      </dgm:t>
    </dgm:pt>
    <dgm:pt modelId="{9942CC6E-C689-4459-AE07-ADB7B1FB8CEE}" type="sibTrans" cxnId="{4C951FCB-F75F-4512-ACCE-6DD676EC5D12}">
      <dgm:prSet/>
      <dgm:spPr/>
      <dgm:t>
        <a:bodyPr/>
        <a:lstStyle/>
        <a:p>
          <a:endParaRPr lang="en-GB"/>
        </a:p>
      </dgm:t>
    </dgm:pt>
    <dgm:pt modelId="{0D1F0B6B-C24E-4248-9717-28C5EA1B9319}">
      <dgm:prSet phldrT="[Text]"/>
      <dgm:spPr/>
      <dgm:t>
        <a:bodyPr/>
        <a:lstStyle/>
        <a:p>
          <a:r>
            <a:rPr lang="en-GB" b="1" dirty="0" smtClean="0"/>
            <a:t>Total Conversions</a:t>
          </a:r>
        </a:p>
        <a:p>
          <a:r>
            <a:rPr lang="en-GB" dirty="0" smtClean="0"/>
            <a:t>239</a:t>
          </a:r>
          <a:endParaRPr lang="en-GB" dirty="0"/>
        </a:p>
      </dgm:t>
    </dgm:pt>
    <dgm:pt modelId="{65D26908-E666-4FDC-B787-2104C059CED2}" type="parTrans" cxnId="{28F70B5D-A6AF-4E4F-9BE5-DA8405964118}">
      <dgm:prSet/>
      <dgm:spPr/>
      <dgm:t>
        <a:bodyPr/>
        <a:lstStyle/>
        <a:p>
          <a:endParaRPr lang="en-GB"/>
        </a:p>
      </dgm:t>
    </dgm:pt>
    <dgm:pt modelId="{9F22F47E-E576-4A8B-8450-99D9107DE5D9}" type="sibTrans" cxnId="{28F70B5D-A6AF-4E4F-9BE5-DA8405964118}">
      <dgm:prSet/>
      <dgm:spPr/>
      <dgm:t>
        <a:bodyPr/>
        <a:lstStyle/>
        <a:p>
          <a:endParaRPr lang="en-GB"/>
        </a:p>
      </dgm:t>
    </dgm:pt>
    <dgm:pt modelId="{417FF2A5-CD12-4B19-90B1-037BDB9F26DF}">
      <dgm:prSet phldrT="[Text]"/>
      <dgm:spPr/>
      <dgm:t>
        <a:bodyPr/>
        <a:lstStyle/>
        <a:p>
          <a:r>
            <a:rPr lang="en-GB" b="1" dirty="0" smtClean="0"/>
            <a:t>Total Sales</a:t>
          </a:r>
        </a:p>
        <a:p>
          <a:r>
            <a:rPr lang="en-GB" b="1" dirty="0" smtClean="0"/>
            <a:t>$14, 659.60</a:t>
          </a:r>
        </a:p>
      </dgm:t>
    </dgm:pt>
    <dgm:pt modelId="{D154929B-42B7-4B82-AA66-CF8CEFA1D558}" type="parTrans" cxnId="{1FA81CD7-8FA3-4FFB-B597-2791126ED979}">
      <dgm:prSet/>
      <dgm:spPr/>
      <dgm:t>
        <a:bodyPr/>
        <a:lstStyle/>
        <a:p>
          <a:endParaRPr lang="en-GB"/>
        </a:p>
      </dgm:t>
    </dgm:pt>
    <dgm:pt modelId="{D366AFEB-C188-48C9-86F9-D31248D90E64}" type="sibTrans" cxnId="{1FA81CD7-8FA3-4FFB-B597-2791126ED979}">
      <dgm:prSet/>
      <dgm:spPr/>
      <dgm:t>
        <a:bodyPr/>
        <a:lstStyle/>
        <a:p>
          <a:endParaRPr lang="en-GB"/>
        </a:p>
      </dgm:t>
    </dgm:pt>
    <dgm:pt modelId="{4D246BA4-FAA4-4309-B972-CBDF67B0695C}">
      <dgm:prSet phldrT="[Text]"/>
      <dgm:spPr/>
      <dgm:t>
        <a:bodyPr/>
        <a:lstStyle/>
        <a:p>
          <a:r>
            <a:rPr lang="en-GB" dirty="0" smtClean="0"/>
            <a:t>New Customer Revenue</a:t>
          </a:r>
        </a:p>
        <a:p>
          <a:r>
            <a:rPr lang="en-GB" dirty="0" smtClean="0"/>
            <a:t>$5,844.43</a:t>
          </a:r>
          <a:endParaRPr lang="en-GB" dirty="0"/>
        </a:p>
      </dgm:t>
    </dgm:pt>
    <dgm:pt modelId="{467B4AFC-7E83-4302-83DF-D2C6BC5C0AAE}" type="sibTrans" cxnId="{A918BCC5-2EF9-424B-845B-5B7E4195AC36}">
      <dgm:prSet/>
      <dgm:spPr/>
      <dgm:t>
        <a:bodyPr/>
        <a:lstStyle/>
        <a:p>
          <a:endParaRPr lang="en-GB"/>
        </a:p>
      </dgm:t>
    </dgm:pt>
    <dgm:pt modelId="{14921629-C5F2-4109-AF38-BA9FBEC43D7C}" type="parTrans" cxnId="{A918BCC5-2EF9-424B-845B-5B7E4195AC36}">
      <dgm:prSet/>
      <dgm:spPr/>
      <dgm:t>
        <a:bodyPr/>
        <a:lstStyle/>
        <a:p>
          <a:endParaRPr lang="en-GB"/>
        </a:p>
      </dgm:t>
    </dgm:pt>
    <dgm:pt modelId="{A0944345-0910-40D2-B3FF-92FF7E7044B0}" type="pres">
      <dgm:prSet presAssocID="{2B26E1F8-2844-4E18-ABFD-545F1F8A132B}" presName="diagram" presStyleCnt="0">
        <dgm:presLayoutVars>
          <dgm:dir val="rev"/>
          <dgm:resizeHandles val="exact"/>
        </dgm:presLayoutVars>
      </dgm:prSet>
      <dgm:spPr/>
    </dgm:pt>
    <dgm:pt modelId="{3CD447D2-8C5F-4270-8469-14C4943A458E}" type="pres">
      <dgm:prSet presAssocID="{C8773D96-28E8-4E75-BCC0-A8989AE7991F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E8520F4-A333-450F-A7C5-E033CA75FD57}" type="pres">
      <dgm:prSet presAssocID="{9942CC6E-C689-4459-AE07-ADB7B1FB8CEE}" presName="sibTrans" presStyleCnt="0"/>
      <dgm:spPr/>
    </dgm:pt>
    <dgm:pt modelId="{837B9D6F-EC09-4AAD-B4CC-E4AEE7864394}" type="pres">
      <dgm:prSet presAssocID="{0D1F0B6B-C24E-4248-9717-28C5EA1B931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202C3AF-17F5-4D0B-841B-88F2CF321138}" type="pres">
      <dgm:prSet presAssocID="{9F22F47E-E576-4A8B-8450-99D9107DE5D9}" presName="sibTrans" presStyleCnt="0"/>
      <dgm:spPr/>
    </dgm:pt>
    <dgm:pt modelId="{5BF29499-B35B-4499-821A-C0B72E3B1DFF}" type="pres">
      <dgm:prSet presAssocID="{417FF2A5-CD12-4B19-90B1-037BDB9F26D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F5DB3F5-BEB2-4DEB-8912-62D25278AE12}" type="pres">
      <dgm:prSet presAssocID="{D366AFEB-C188-48C9-86F9-D31248D90E64}" presName="sibTrans" presStyleCnt="0"/>
      <dgm:spPr/>
    </dgm:pt>
    <dgm:pt modelId="{C8C3CE5F-5E25-43EB-8256-DCD6AE995EC1}" type="pres">
      <dgm:prSet presAssocID="{4D246BA4-FAA4-4309-B972-CBDF67B0695C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A918BCC5-2EF9-424B-845B-5B7E4195AC36}" srcId="{2B26E1F8-2844-4E18-ABFD-545F1F8A132B}" destId="{4D246BA4-FAA4-4309-B972-CBDF67B0695C}" srcOrd="3" destOrd="0" parTransId="{14921629-C5F2-4109-AF38-BA9FBEC43D7C}" sibTransId="{467B4AFC-7E83-4302-83DF-D2C6BC5C0AAE}"/>
    <dgm:cxn modelId="{38080CCA-5CA1-43CC-ABA9-6DD9E489DE5A}" type="presOf" srcId="{C8773D96-28E8-4E75-BCC0-A8989AE7991F}" destId="{3CD447D2-8C5F-4270-8469-14C4943A458E}" srcOrd="0" destOrd="0" presId="urn:microsoft.com/office/officeart/2005/8/layout/default"/>
    <dgm:cxn modelId="{1FA81CD7-8FA3-4FFB-B597-2791126ED979}" srcId="{2B26E1F8-2844-4E18-ABFD-545F1F8A132B}" destId="{417FF2A5-CD12-4B19-90B1-037BDB9F26DF}" srcOrd="2" destOrd="0" parTransId="{D154929B-42B7-4B82-AA66-CF8CEFA1D558}" sibTransId="{D366AFEB-C188-48C9-86F9-D31248D90E64}"/>
    <dgm:cxn modelId="{FAB614F4-1789-4E7B-95D5-F7FC777AC63C}" type="presOf" srcId="{0D1F0B6B-C24E-4248-9717-28C5EA1B9319}" destId="{837B9D6F-EC09-4AAD-B4CC-E4AEE7864394}" srcOrd="0" destOrd="0" presId="urn:microsoft.com/office/officeart/2005/8/layout/default"/>
    <dgm:cxn modelId="{03D577AB-D0F7-443C-BBA0-900289CB3AC1}" type="presOf" srcId="{417FF2A5-CD12-4B19-90B1-037BDB9F26DF}" destId="{5BF29499-B35B-4499-821A-C0B72E3B1DFF}" srcOrd="0" destOrd="0" presId="urn:microsoft.com/office/officeart/2005/8/layout/default"/>
    <dgm:cxn modelId="{4C951FCB-F75F-4512-ACCE-6DD676EC5D12}" srcId="{2B26E1F8-2844-4E18-ABFD-545F1F8A132B}" destId="{C8773D96-28E8-4E75-BCC0-A8989AE7991F}" srcOrd="0" destOrd="0" parTransId="{CCFEFD3E-E9F4-43FC-B011-CD22E9D8BE90}" sibTransId="{9942CC6E-C689-4459-AE07-ADB7B1FB8CEE}"/>
    <dgm:cxn modelId="{13BBE67B-A09B-4116-8791-69AF3A100561}" type="presOf" srcId="{2B26E1F8-2844-4E18-ABFD-545F1F8A132B}" destId="{A0944345-0910-40D2-B3FF-92FF7E7044B0}" srcOrd="0" destOrd="0" presId="urn:microsoft.com/office/officeart/2005/8/layout/default"/>
    <dgm:cxn modelId="{28F70B5D-A6AF-4E4F-9BE5-DA8405964118}" srcId="{2B26E1F8-2844-4E18-ABFD-545F1F8A132B}" destId="{0D1F0B6B-C24E-4248-9717-28C5EA1B9319}" srcOrd="1" destOrd="0" parTransId="{65D26908-E666-4FDC-B787-2104C059CED2}" sibTransId="{9F22F47E-E576-4A8B-8450-99D9107DE5D9}"/>
    <dgm:cxn modelId="{91864EC3-7065-4D6F-A01E-B46E8E9A6A69}" type="presOf" srcId="{4D246BA4-FAA4-4309-B972-CBDF67B0695C}" destId="{C8C3CE5F-5E25-43EB-8256-DCD6AE995EC1}" srcOrd="0" destOrd="0" presId="urn:microsoft.com/office/officeart/2005/8/layout/default"/>
    <dgm:cxn modelId="{2E6E7111-F766-43D5-98D2-D4FC4B1CB925}" type="presParOf" srcId="{A0944345-0910-40D2-B3FF-92FF7E7044B0}" destId="{3CD447D2-8C5F-4270-8469-14C4943A458E}" srcOrd="0" destOrd="0" presId="urn:microsoft.com/office/officeart/2005/8/layout/default"/>
    <dgm:cxn modelId="{6706C822-287F-48B9-B77C-14AB80CFFD0E}" type="presParOf" srcId="{A0944345-0910-40D2-B3FF-92FF7E7044B0}" destId="{3E8520F4-A333-450F-A7C5-E033CA75FD57}" srcOrd="1" destOrd="0" presId="urn:microsoft.com/office/officeart/2005/8/layout/default"/>
    <dgm:cxn modelId="{F8646A5E-15A6-4A9D-9DEA-640772BFBF0C}" type="presParOf" srcId="{A0944345-0910-40D2-B3FF-92FF7E7044B0}" destId="{837B9D6F-EC09-4AAD-B4CC-E4AEE7864394}" srcOrd="2" destOrd="0" presId="urn:microsoft.com/office/officeart/2005/8/layout/default"/>
    <dgm:cxn modelId="{AEE3987C-BE9A-4653-ACF4-BF4B97E960DA}" type="presParOf" srcId="{A0944345-0910-40D2-B3FF-92FF7E7044B0}" destId="{9202C3AF-17F5-4D0B-841B-88F2CF321138}" srcOrd="3" destOrd="0" presId="urn:microsoft.com/office/officeart/2005/8/layout/default"/>
    <dgm:cxn modelId="{6238A4B3-9ADA-42F4-8A37-43F79CC50552}" type="presParOf" srcId="{A0944345-0910-40D2-B3FF-92FF7E7044B0}" destId="{5BF29499-B35B-4499-821A-C0B72E3B1DFF}" srcOrd="4" destOrd="0" presId="urn:microsoft.com/office/officeart/2005/8/layout/default"/>
    <dgm:cxn modelId="{33AC6F7F-6BC2-4EFE-A525-4CB999A4E50E}" type="presParOf" srcId="{A0944345-0910-40D2-B3FF-92FF7E7044B0}" destId="{1F5DB3F5-BEB2-4DEB-8912-62D25278AE12}" srcOrd="5" destOrd="0" presId="urn:microsoft.com/office/officeart/2005/8/layout/default"/>
    <dgm:cxn modelId="{D679BF86-0AC3-4B2F-8745-9297D7763245}" type="presParOf" srcId="{A0944345-0910-40D2-B3FF-92FF7E7044B0}" destId="{C8C3CE5F-5E25-43EB-8256-DCD6AE995EC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891C40-5A7A-4773-9D67-D99E69000CBC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18E3192D-EA53-435F-9A03-F84CCF82979C}">
      <dgm:prSet phldrT="[Text]"/>
      <dgm:spPr/>
      <dgm:t>
        <a:bodyPr/>
        <a:lstStyle/>
        <a:p>
          <a:r>
            <a:rPr lang="en-GB" dirty="0" smtClean="0"/>
            <a:t>Segment-Specific Messaging</a:t>
          </a:r>
          <a:endParaRPr lang="en-GB" dirty="0"/>
        </a:p>
      </dgm:t>
    </dgm:pt>
    <dgm:pt modelId="{CB31ECDA-8B37-4AD9-8B85-75AE78CF0B1C}" type="parTrans" cxnId="{F450E243-C424-4933-80E5-AD882C2FE232}">
      <dgm:prSet/>
      <dgm:spPr/>
      <dgm:t>
        <a:bodyPr/>
        <a:lstStyle/>
        <a:p>
          <a:endParaRPr lang="en-GB"/>
        </a:p>
      </dgm:t>
    </dgm:pt>
    <dgm:pt modelId="{5E78F60E-A227-4034-AA20-2D4ADE1423FC}" type="sibTrans" cxnId="{F450E243-C424-4933-80E5-AD882C2FE232}">
      <dgm:prSet/>
      <dgm:spPr/>
      <dgm:t>
        <a:bodyPr/>
        <a:lstStyle/>
        <a:p>
          <a:endParaRPr lang="en-GB"/>
        </a:p>
      </dgm:t>
    </dgm:pt>
    <dgm:pt modelId="{DF1E37F4-0691-4CDA-8481-9287F273F95C}">
      <dgm:prSet phldrT="[Text]"/>
      <dgm:spPr/>
      <dgm:t>
        <a:bodyPr/>
        <a:lstStyle/>
        <a:p>
          <a:r>
            <a:rPr lang="en-GB" dirty="0" smtClean="0"/>
            <a:t>Restrict Campaign A to cold prospect lists and Campaign B strictly to existing database contacts</a:t>
          </a:r>
          <a:endParaRPr lang="en-GB" dirty="0"/>
        </a:p>
      </dgm:t>
    </dgm:pt>
    <dgm:pt modelId="{95D37432-7C1D-4E9A-AB2D-E10AF662E953}" type="parTrans" cxnId="{7221E65D-46AF-4FC5-AA6C-C18FD3182F8B}">
      <dgm:prSet/>
      <dgm:spPr/>
      <dgm:t>
        <a:bodyPr/>
        <a:lstStyle/>
        <a:p>
          <a:endParaRPr lang="en-GB"/>
        </a:p>
      </dgm:t>
    </dgm:pt>
    <dgm:pt modelId="{5735A009-446D-4DEF-B0A9-8307AAB148DF}" type="sibTrans" cxnId="{7221E65D-46AF-4FC5-AA6C-C18FD3182F8B}">
      <dgm:prSet/>
      <dgm:spPr/>
      <dgm:t>
        <a:bodyPr/>
        <a:lstStyle/>
        <a:p>
          <a:endParaRPr lang="en-GB"/>
        </a:p>
      </dgm:t>
    </dgm:pt>
    <dgm:pt modelId="{E5D79C20-9925-4133-BDE9-C9A0C13D2F9B}">
      <dgm:prSet phldrT="[Text]"/>
      <dgm:spPr/>
      <dgm:t>
        <a:bodyPr/>
        <a:lstStyle/>
        <a:p>
          <a:r>
            <a:rPr lang="en-GB" dirty="0" smtClean="0"/>
            <a:t>Channel Budget Reallocation</a:t>
          </a:r>
          <a:endParaRPr lang="en-GB" dirty="0"/>
        </a:p>
      </dgm:t>
    </dgm:pt>
    <dgm:pt modelId="{0020FFC7-5D92-46F3-8C3B-2BBA56D96F58}" type="parTrans" cxnId="{BAA97635-C7C7-4FCD-BF23-481F2F55074F}">
      <dgm:prSet/>
      <dgm:spPr/>
      <dgm:t>
        <a:bodyPr/>
        <a:lstStyle/>
        <a:p>
          <a:endParaRPr lang="en-GB"/>
        </a:p>
      </dgm:t>
    </dgm:pt>
    <dgm:pt modelId="{452DC1C6-DDD2-4251-978F-FF3CA1287AA0}" type="sibTrans" cxnId="{BAA97635-C7C7-4FCD-BF23-481F2F55074F}">
      <dgm:prSet/>
      <dgm:spPr/>
      <dgm:t>
        <a:bodyPr/>
        <a:lstStyle/>
        <a:p>
          <a:endParaRPr lang="en-GB"/>
        </a:p>
      </dgm:t>
    </dgm:pt>
    <dgm:pt modelId="{516F08E9-AA0A-43A6-9F93-C3584092B5C7}">
      <dgm:prSet phldrT="[Text]"/>
      <dgm:spPr/>
      <dgm:t>
        <a:bodyPr/>
        <a:lstStyle/>
        <a:p>
          <a:r>
            <a:rPr lang="en-GB" dirty="0" smtClean="0"/>
            <a:t>Scale </a:t>
          </a:r>
          <a:r>
            <a:rPr lang="en-GB" dirty="0" err="1" smtClean="0"/>
            <a:t>Instagram</a:t>
          </a:r>
          <a:r>
            <a:rPr lang="en-GB" dirty="0" smtClean="0"/>
            <a:t>: Focus budget on visual Campaign A creative to drive top-of-funnel new customer acquisition</a:t>
          </a:r>
          <a:endParaRPr lang="en-GB" dirty="0"/>
        </a:p>
      </dgm:t>
    </dgm:pt>
    <dgm:pt modelId="{FFD4BFE1-BFCE-4AFE-8C0C-C34126A6943C}" type="parTrans" cxnId="{B450DAC7-4D97-4BBA-99F1-C4C8C000EDE1}">
      <dgm:prSet/>
      <dgm:spPr/>
      <dgm:t>
        <a:bodyPr/>
        <a:lstStyle/>
        <a:p>
          <a:endParaRPr lang="en-GB"/>
        </a:p>
      </dgm:t>
    </dgm:pt>
    <dgm:pt modelId="{BFB05736-3E3A-4C8C-93DB-87FD8306B3FB}" type="sibTrans" cxnId="{B450DAC7-4D97-4BBA-99F1-C4C8C000EDE1}">
      <dgm:prSet/>
      <dgm:spPr/>
      <dgm:t>
        <a:bodyPr/>
        <a:lstStyle/>
        <a:p>
          <a:endParaRPr lang="en-GB"/>
        </a:p>
      </dgm:t>
    </dgm:pt>
    <dgm:pt modelId="{83E70E2E-BBBA-4986-A537-BDDEAE7F94FC}">
      <dgm:prSet phldrT="[Text]"/>
      <dgm:spPr/>
      <dgm:t>
        <a:bodyPr/>
        <a:lstStyle/>
        <a:p>
          <a:r>
            <a:rPr lang="en-GB" dirty="0" smtClean="0"/>
            <a:t>Optimize Web Banners: Pivot banner ad copy toward Campaign B promotional offers for retargeting</a:t>
          </a:r>
          <a:endParaRPr lang="en-GB" dirty="0"/>
        </a:p>
      </dgm:t>
    </dgm:pt>
    <dgm:pt modelId="{D22DDC26-4B79-4FB2-8717-ECA52F5A7BC4}" type="parTrans" cxnId="{42D4FBAD-B860-44B4-B24D-CA6370712883}">
      <dgm:prSet/>
      <dgm:spPr/>
      <dgm:t>
        <a:bodyPr/>
        <a:lstStyle/>
        <a:p>
          <a:endParaRPr lang="en-GB"/>
        </a:p>
      </dgm:t>
    </dgm:pt>
    <dgm:pt modelId="{439639C3-5DF4-47A3-8B40-A1CFE6CE24F3}" type="sibTrans" cxnId="{42D4FBAD-B860-44B4-B24D-CA6370712883}">
      <dgm:prSet/>
      <dgm:spPr/>
      <dgm:t>
        <a:bodyPr/>
        <a:lstStyle/>
        <a:p>
          <a:endParaRPr lang="en-GB"/>
        </a:p>
      </dgm:t>
    </dgm:pt>
    <dgm:pt modelId="{449E7248-D9D3-4172-9FAC-8CFE8A975DBF}">
      <dgm:prSet phldrT="[Text]"/>
      <dgm:spPr/>
      <dgm:t>
        <a:bodyPr/>
        <a:lstStyle/>
        <a:p>
          <a:r>
            <a:rPr lang="en-GB" dirty="0" smtClean="0"/>
            <a:t>Automate Email Lifecycle Journeys</a:t>
          </a:r>
          <a:endParaRPr lang="en-GB" dirty="0"/>
        </a:p>
      </dgm:t>
    </dgm:pt>
    <dgm:pt modelId="{A7748E4A-8A95-42FD-85A0-3A3554303871}" type="parTrans" cxnId="{2F1E0BD8-D26C-43C6-9820-D0906B102F3B}">
      <dgm:prSet/>
      <dgm:spPr/>
      <dgm:t>
        <a:bodyPr/>
        <a:lstStyle/>
        <a:p>
          <a:endParaRPr lang="en-GB"/>
        </a:p>
      </dgm:t>
    </dgm:pt>
    <dgm:pt modelId="{4FE2D121-962A-4A15-8052-F91CEDDCAC50}" type="sibTrans" cxnId="{2F1E0BD8-D26C-43C6-9820-D0906B102F3B}">
      <dgm:prSet/>
      <dgm:spPr/>
      <dgm:t>
        <a:bodyPr/>
        <a:lstStyle/>
        <a:p>
          <a:endParaRPr lang="en-GB"/>
        </a:p>
      </dgm:t>
    </dgm:pt>
    <dgm:pt modelId="{4BEF193B-1B03-46B5-A408-7EE35D33E014}">
      <dgm:prSet phldrT="[Text]"/>
      <dgm:spPr/>
      <dgm:t>
        <a:bodyPr/>
        <a:lstStyle/>
        <a:p>
          <a:r>
            <a:rPr lang="en-GB" dirty="0" smtClean="0"/>
            <a:t>Implement automated </a:t>
          </a:r>
          <a:r>
            <a:rPr lang="en-GB" dirty="0" err="1" smtClean="0"/>
            <a:t>onboarding</a:t>
          </a:r>
          <a:r>
            <a:rPr lang="en-GB" dirty="0" smtClean="0"/>
            <a:t> sequences for first-time buyers and loyalty offers for repeat buyers</a:t>
          </a:r>
          <a:endParaRPr lang="en-GB" dirty="0"/>
        </a:p>
      </dgm:t>
    </dgm:pt>
    <dgm:pt modelId="{FBA1A5F8-2F6F-4349-BF72-C6412B0D0047}" type="parTrans" cxnId="{D055C64E-05B9-414D-8DB5-842342FDCFDD}">
      <dgm:prSet/>
      <dgm:spPr/>
      <dgm:t>
        <a:bodyPr/>
        <a:lstStyle/>
        <a:p>
          <a:endParaRPr lang="en-GB"/>
        </a:p>
      </dgm:t>
    </dgm:pt>
    <dgm:pt modelId="{C7BE51BB-24F1-4901-8449-6E96E56CA7C4}" type="sibTrans" cxnId="{D055C64E-05B9-414D-8DB5-842342FDCFDD}">
      <dgm:prSet/>
      <dgm:spPr/>
      <dgm:t>
        <a:bodyPr/>
        <a:lstStyle/>
        <a:p>
          <a:endParaRPr lang="en-GB"/>
        </a:p>
      </dgm:t>
    </dgm:pt>
    <dgm:pt modelId="{177DE414-482E-4D32-B20D-8AE5D3B25B56}" type="pres">
      <dgm:prSet presAssocID="{A7891C40-5A7A-4773-9D67-D99E69000CBC}" presName="Name0" presStyleCnt="0">
        <dgm:presLayoutVars>
          <dgm:dir/>
          <dgm:animLvl val="lvl"/>
          <dgm:resizeHandles val="exact"/>
        </dgm:presLayoutVars>
      </dgm:prSet>
      <dgm:spPr/>
    </dgm:pt>
    <dgm:pt modelId="{7D0FF27C-4760-4409-B2C7-3316E1A0AB3C}" type="pres">
      <dgm:prSet presAssocID="{18E3192D-EA53-435F-9A03-F84CCF82979C}" presName="linNode" presStyleCnt="0"/>
      <dgm:spPr/>
    </dgm:pt>
    <dgm:pt modelId="{B191B4C8-20A5-4403-9F65-1126895F9D85}" type="pres">
      <dgm:prSet presAssocID="{18E3192D-EA53-435F-9A03-F84CCF82979C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D96B374-D419-40A0-9DC5-2EEE94E6B286}" type="pres">
      <dgm:prSet presAssocID="{18E3192D-EA53-435F-9A03-F84CCF82979C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92BBFF4-E009-4DA9-BF61-9DBA144EE8BF}" type="pres">
      <dgm:prSet presAssocID="{5E78F60E-A227-4034-AA20-2D4ADE1423FC}" presName="sp" presStyleCnt="0"/>
      <dgm:spPr/>
    </dgm:pt>
    <dgm:pt modelId="{81895EC0-7992-4077-8D86-E0D670E2224F}" type="pres">
      <dgm:prSet presAssocID="{E5D79C20-9925-4133-BDE9-C9A0C13D2F9B}" presName="linNode" presStyleCnt="0"/>
      <dgm:spPr/>
    </dgm:pt>
    <dgm:pt modelId="{D13BFE85-B139-4568-9513-272340F6CA25}" type="pres">
      <dgm:prSet presAssocID="{E5D79C20-9925-4133-BDE9-C9A0C13D2F9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E4CA018-1C0E-435D-B02D-862A6B710A47}" type="pres">
      <dgm:prSet presAssocID="{E5D79C20-9925-4133-BDE9-C9A0C13D2F9B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5AE932-FBA6-4E5B-8E5E-4A861FAA6ABE}" type="pres">
      <dgm:prSet presAssocID="{452DC1C6-DDD2-4251-978F-FF3CA1287AA0}" presName="sp" presStyleCnt="0"/>
      <dgm:spPr/>
    </dgm:pt>
    <dgm:pt modelId="{EE0A4DC9-70D3-4B14-BA34-7925AAF2CD83}" type="pres">
      <dgm:prSet presAssocID="{449E7248-D9D3-4172-9FAC-8CFE8A975DBF}" presName="linNode" presStyleCnt="0"/>
      <dgm:spPr/>
    </dgm:pt>
    <dgm:pt modelId="{696A5A5E-4A07-4BFA-AF07-39E30FE012AC}" type="pres">
      <dgm:prSet presAssocID="{449E7248-D9D3-4172-9FAC-8CFE8A975DBF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4D6F66F-AFA5-4D19-BDFE-F7F8E890C376}" type="pres">
      <dgm:prSet presAssocID="{449E7248-D9D3-4172-9FAC-8CFE8A975DBF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F450E243-C424-4933-80E5-AD882C2FE232}" srcId="{A7891C40-5A7A-4773-9D67-D99E69000CBC}" destId="{18E3192D-EA53-435F-9A03-F84CCF82979C}" srcOrd="0" destOrd="0" parTransId="{CB31ECDA-8B37-4AD9-8B85-75AE78CF0B1C}" sibTransId="{5E78F60E-A227-4034-AA20-2D4ADE1423FC}"/>
    <dgm:cxn modelId="{55F81727-6DDE-4208-AAA9-18EFA1B6C714}" type="presOf" srcId="{DF1E37F4-0691-4CDA-8481-9287F273F95C}" destId="{4D96B374-D419-40A0-9DC5-2EEE94E6B286}" srcOrd="0" destOrd="0" presId="urn:microsoft.com/office/officeart/2005/8/layout/vList5"/>
    <dgm:cxn modelId="{55D29DCF-6012-4929-B41F-7D54E23F2DFD}" type="presOf" srcId="{A7891C40-5A7A-4773-9D67-D99E69000CBC}" destId="{177DE414-482E-4D32-B20D-8AE5D3B25B56}" srcOrd="0" destOrd="0" presId="urn:microsoft.com/office/officeart/2005/8/layout/vList5"/>
    <dgm:cxn modelId="{62ACB67E-0C9D-437B-9CBA-E9C8FA5AFF50}" type="presOf" srcId="{449E7248-D9D3-4172-9FAC-8CFE8A975DBF}" destId="{696A5A5E-4A07-4BFA-AF07-39E30FE012AC}" srcOrd="0" destOrd="0" presId="urn:microsoft.com/office/officeart/2005/8/layout/vList5"/>
    <dgm:cxn modelId="{5BA7EA6D-C85B-4497-877B-B3F16DCD687D}" type="presOf" srcId="{E5D79C20-9925-4133-BDE9-C9A0C13D2F9B}" destId="{D13BFE85-B139-4568-9513-272340F6CA25}" srcOrd="0" destOrd="0" presId="urn:microsoft.com/office/officeart/2005/8/layout/vList5"/>
    <dgm:cxn modelId="{7221E65D-46AF-4FC5-AA6C-C18FD3182F8B}" srcId="{18E3192D-EA53-435F-9A03-F84CCF82979C}" destId="{DF1E37F4-0691-4CDA-8481-9287F273F95C}" srcOrd="0" destOrd="0" parTransId="{95D37432-7C1D-4E9A-AB2D-E10AF662E953}" sibTransId="{5735A009-446D-4DEF-B0A9-8307AAB148DF}"/>
    <dgm:cxn modelId="{B450DAC7-4D97-4BBA-99F1-C4C8C000EDE1}" srcId="{E5D79C20-9925-4133-BDE9-C9A0C13D2F9B}" destId="{516F08E9-AA0A-43A6-9F93-C3584092B5C7}" srcOrd="0" destOrd="0" parTransId="{FFD4BFE1-BFCE-4AFE-8C0C-C34126A6943C}" sibTransId="{BFB05736-3E3A-4C8C-93DB-87FD8306B3FB}"/>
    <dgm:cxn modelId="{2F1E0BD8-D26C-43C6-9820-D0906B102F3B}" srcId="{A7891C40-5A7A-4773-9D67-D99E69000CBC}" destId="{449E7248-D9D3-4172-9FAC-8CFE8A975DBF}" srcOrd="2" destOrd="0" parTransId="{A7748E4A-8A95-42FD-85A0-3A3554303871}" sibTransId="{4FE2D121-962A-4A15-8052-F91CEDDCAC50}"/>
    <dgm:cxn modelId="{1DF58B9F-676C-4CE0-A40A-E0848426FED3}" type="presOf" srcId="{18E3192D-EA53-435F-9A03-F84CCF82979C}" destId="{B191B4C8-20A5-4403-9F65-1126895F9D85}" srcOrd="0" destOrd="0" presId="urn:microsoft.com/office/officeart/2005/8/layout/vList5"/>
    <dgm:cxn modelId="{42D4FBAD-B860-44B4-B24D-CA6370712883}" srcId="{E5D79C20-9925-4133-BDE9-C9A0C13D2F9B}" destId="{83E70E2E-BBBA-4986-A537-BDDEAE7F94FC}" srcOrd="1" destOrd="0" parTransId="{D22DDC26-4B79-4FB2-8717-ECA52F5A7BC4}" sibTransId="{439639C3-5DF4-47A3-8B40-A1CFE6CE24F3}"/>
    <dgm:cxn modelId="{D055C64E-05B9-414D-8DB5-842342FDCFDD}" srcId="{449E7248-D9D3-4172-9FAC-8CFE8A975DBF}" destId="{4BEF193B-1B03-46B5-A408-7EE35D33E014}" srcOrd="0" destOrd="0" parTransId="{FBA1A5F8-2F6F-4349-BF72-C6412B0D0047}" sibTransId="{C7BE51BB-24F1-4901-8449-6E96E56CA7C4}"/>
    <dgm:cxn modelId="{8FFAB821-7035-4C13-B1F4-4B7571B3D331}" type="presOf" srcId="{4BEF193B-1B03-46B5-A408-7EE35D33E014}" destId="{24D6F66F-AFA5-4D19-BDFE-F7F8E890C376}" srcOrd="0" destOrd="0" presId="urn:microsoft.com/office/officeart/2005/8/layout/vList5"/>
    <dgm:cxn modelId="{BAA97635-C7C7-4FCD-BF23-481F2F55074F}" srcId="{A7891C40-5A7A-4773-9D67-D99E69000CBC}" destId="{E5D79C20-9925-4133-BDE9-C9A0C13D2F9B}" srcOrd="1" destOrd="0" parTransId="{0020FFC7-5D92-46F3-8C3B-2BBA56D96F58}" sibTransId="{452DC1C6-DDD2-4251-978F-FF3CA1287AA0}"/>
    <dgm:cxn modelId="{0B289762-27CA-442B-8299-2E86760EFDBB}" type="presOf" srcId="{516F08E9-AA0A-43A6-9F93-C3584092B5C7}" destId="{BE4CA018-1C0E-435D-B02D-862A6B710A47}" srcOrd="0" destOrd="0" presId="urn:microsoft.com/office/officeart/2005/8/layout/vList5"/>
    <dgm:cxn modelId="{2A8535D0-8DC8-48A5-AEF0-1B364CD45FFA}" type="presOf" srcId="{83E70E2E-BBBA-4986-A537-BDDEAE7F94FC}" destId="{BE4CA018-1C0E-435D-B02D-862A6B710A47}" srcOrd="0" destOrd="1" presId="urn:microsoft.com/office/officeart/2005/8/layout/vList5"/>
    <dgm:cxn modelId="{0B99C58A-AC89-4769-9B55-74D64BA18CB5}" type="presParOf" srcId="{177DE414-482E-4D32-B20D-8AE5D3B25B56}" destId="{7D0FF27C-4760-4409-B2C7-3316E1A0AB3C}" srcOrd="0" destOrd="0" presId="urn:microsoft.com/office/officeart/2005/8/layout/vList5"/>
    <dgm:cxn modelId="{4A66F8A6-EABF-46BF-B3A2-29E246CE6D17}" type="presParOf" srcId="{7D0FF27C-4760-4409-B2C7-3316E1A0AB3C}" destId="{B191B4C8-20A5-4403-9F65-1126895F9D85}" srcOrd="0" destOrd="0" presId="urn:microsoft.com/office/officeart/2005/8/layout/vList5"/>
    <dgm:cxn modelId="{5E84C32D-08A9-45A0-A67C-8CFEE82AA0C2}" type="presParOf" srcId="{7D0FF27C-4760-4409-B2C7-3316E1A0AB3C}" destId="{4D96B374-D419-40A0-9DC5-2EEE94E6B286}" srcOrd="1" destOrd="0" presId="urn:microsoft.com/office/officeart/2005/8/layout/vList5"/>
    <dgm:cxn modelId="{9834A351-7DB5-40AB-97A0-A733FBB0E695}" type="presParOf" srcId="{177DE414-482E-4D32-B20D-8AE5D3B25B56}" destId="{792BBFF4-E009-4DA9-BF61-9DBA144EE8BF}" srcOrd="1" destOrd="0" presId="urn:microsoft.com/office/officeart/2005/8/layout/vList5"/>
    <dgm:cxn modelId="{6B4D54A9-26A0-4F0C-B380-7B1FCA1F3414}" type="presParOf" srcId="{177DE414-482E-4D32-B20D-8AE5D3B25B56}" destId="{81895EC0-7992-4077-8D86-E0D670E2224F}" srcOrd="2" destOrd="0" presId="urn:microsoft.com/office/officeart/2005/8/layout/vList5"/>
    <dgm:cxn modelId="{C9F9F4F1-5D0F-464E-AA27-515B3214618A}" type="presParOf" srcId="{81895EC0-7992-4077-8D86-E0D670E2224F}" destId="{D13BFE85-B139-4568-9513-272340F6CA25}" srcOrd="0" destOrd="0" presId="urn:microsoft.com/office/officeart/2005/8/layout/vList5"/>
    <dgm:cxn modelId="{9F87D699-17B0-4A6C-821B-390319722282}" type="presParOf" srcId="{81895EC0-7992-4077-8D86-E0D670E2224F}" destId="{BE4CA018-1C0E-435D-B02D-862A6B710A47}" srcOrd="1" destOrd="0" presId="urn:microsoft.com/office/officeart/2005/8/layout/vList5"/>
    <dgm:cxn modelId="{EA90ECF9-8E44-4DF5-BF61-6A23DC24089C}" type="presParOf" srcId="{177DE414-482E-4D32-B20D-8AE5D3B25B56}" destId="{D05AE932-FBA6-4E5B-8E5E-4A861FAA6ABE}" srcOrd="3" destOrd="0" presId="urn:microsoft.com/office/officeart/2005/8/layout/vList5"/>
    <dgm:cxn modelId="{13CA1DA1-8AAF-486F-A74B-E9D55586AA50}" type="presParOf" srcId="{177DE414-482E-4D32-B20D-8AE5D3B25B56}" destId="{EE0A4DC9-70D3-4B14-BA34-7925AAF2CD83}" srcOrd="4" destOrd="0" presId="urn:microsoft.com/office/officeart/2005/8/layout/vList5"/>
    <dgm:cxn modelId="{622A5990-95E1-4A5C-9A61-C82C4637BC44}" type="presParOf" srcId="{EE0A4DC9-70D3-4B14-BA34-7925AAF2CD83}" destId="{696A5A5E-4A07-4BFA-AF07-39E30FE012AC}" srcOrd="0" destOrd="0" presId="urn:microsoft.com/office/officeart/2005/8/layout/vList5"/>
    <dgm:cxn modelId="{AD3EAE9B-EA49-4771-B363-E08761D2A71C}" type="presParOf" srcId="{EE0A4DC9-70D3-4B14-BA34-7925AAF2CD83}" destId="{24D6F66F-AFA5-4D19-BDFE-F7F8E890C37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447D2-8C5F-4270-8469-14C4943A458E}">
      <dsp:nvSpPr>
        <dsp:cNvPr id="0" name=""/>
        <dsp:cNvSpPr/>
      </dsp:nvSpPr>
      <dsp:spPr>
        <a:xfrm>
          <a:off x="6916839" y="355109"/>
          <a:ext cx="2095211" cy="12571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Baseline Conversion Rate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48%</a:t>
          </a:r>
          <a:endParaRPr lang="en-GB" sz="2000" kern="1200" dirty="0"/>
        </a:p>
      </dsp:txBody>
      <dsp:txXfrm>
        <a:off x="6916839" y="355109"/>
        <a:ext cx="2095211" cy="1257126"/>
      </dsp:txXfrm>
    </dsp:sp>
    <dsp:sp modelId="{837B9D6F-EC09-4AAD-B4CC-E4AEE7864394}">
      <dsp:nvSpPr>
        <dsp:cNvPr id="0" name=""/>
        <dsp:cNvSpPr/>
      </dsp:nvSpPr>
      <dsp:spPr>
        <a:xfrm>
          <a:off x="4612106" y="355109"/>
          <a:ext cx="2095211" cy="12571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Total Conversions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239</a:t>
          </a:r>
          <a:endParaRPr lang="en-GB" sz="2000" kern="1200" dirty="0"/>
        </a:p>
      </dsp:txBody>
      <dsp:txXfrm>
        <a:off x="4612106" y="355109"/>
        <a:ext cx="2095211" cy="1257126"/>
      </dsp:txXfrm>
    </dsp:sp>
    <dsp:sp modelId="{5BF29499-B35B-4499-821A-C0B72E3B1DFF}">
      <dsp:nvSpPr>
        <dsp:cNvPr id="0" name=""/>
        <dsp:cNvSpPr/>
      </dsp:nvSpPr>
      <dsp:spPr>
        <a:xfrm>
          <a:off x="2307373" y="355109"/>
          <a:ext cx="2095211" cy="12571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Total Sales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b="1" kern="1200" dirty="0" smtClean="0"/>
            <a:t>$14, 659.60</a:t>
          </a:r>
        </a:p>
      </dsp:txBody>
      <dsp:txXfrm>
        <a:off x="2307373" y="355109"/>
        <a:ext cx="2095211" cy="1257126"/>
      </dsp:txXfrm>
    </dsp:sp>
    <dsp:sp modelId="{C8C3CE5F-5E25-43EB-8256-DCD6AE995EC1}">
      <dsp:nvSpPr>
        <dsp:cNvPr id="0" name=""/>
        <dsp:cNvSpPr/>
      </dsp:nvSpPr>
      <dsp:spPr>
        <a:xfrm>
          <a:off x="2641" y="355109"/>
          <a:ext cx="2095211" cy="12571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New Customer Revenue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$5,844.43</a:t>
          </a:r>
          <a:endParaRPr lang="en-GB" sz="2000" kern="1200" dirty="0"/>
        </a:p>
      </dsp:txBody>
      <dsp:txXfrm>
        <a:off x="2641" y="355109"/>
        <a:ext cx="2095211" cy="12571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96B374-D419-40A0-9DC5-2EEE94E6B286}">
      <dsp:nvSpPr>
        <dsp:cNvPr id="0" name=""/>
        <dsp:cNvSpPr/>
      </dsp:nvSpPr>
      <dsp:spPr>
        <a:xfrm rot="5400000">
          <a:off x="5345150" y="-2123497"/>
          <a:ext cx="1000682" cy="550163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500" kern="1200" dirty="0" smtClean="0"/>
            <a:t>Restrict Campaign A to cold prospect lists and Campaign B strictly to existing database contacts</a:t>
          </a:r>
          <a:endParaRPr lang="en-GB" sz="1500" kern="1200" dirty="0"/>
        </a:p>
      </dsp:txBody>
      <dsp:txXfrm rot="-5400000">
        <a:off x="3094672" y="175830"/>
        <a:ext cx="5452790" cy="902984"/>
      </dsp:txXfrm>
    </dsp:sp>
    <dsp:sp modelId="{B191B4C8-20A5-4403-9F65-1126895F9D85}">
      <dsp:nvSpPr>
        <dsp:cNvPr id="0" name=""/>
        <dsp:cNvSpPr/>
      </dsp:nvSpPr>
      <dsp:spPr>
        <a:xfrm>
          <a:off x="0" y="1895"/>
          <a:ext cx="3094672" cy="12508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600" kern="1200" dirty="0" smtClean="0"/>
            <a:t>Segment-Specific Messaging</a:t>
          </a:r>
          <a:endParaRPr lang="en-GB" sz="2600" kern="1200" dirty="0"/>
        </a:p>
      </dsp:txBody>
      <dsp:txXfrm>
        <a:off x="61062" y="62957"/>
        <a:ext cx="2972548" cy="1128729"/>
      </dsp:txXfrm>
    </dsp:sp>
    <dsp:sp modelId="{BE4CA018-1C0E-435D-B02D-862A6B710A47}">
      <dsp:nvSpPr>
        <dsp:cNvPr id="0" name=""/>
        <dsp:cNvSpPr/>
      </dsp:nvSpPr>
      <dsp:spPr>
        <a:xfrm rot="5400000">
          <a:off x="5345150" y="-810101"/>
          <a:ext cx="1000682" cy="550163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500" kern="1200" dirty="0" smtClean="0"/>
            <a:t>Scale </a:t>
          </a:r>
          <a:r>
            <a:rPr lang="en-GB" sz="1500" kern="1200" dirty="0" err="1" smtClean="0"/>
            <a:t>Instagram</a:t>
          </a:r>
          <a:r>
            <a:rPr lang="en-GB" sz="1500" kern="1200" dirty="0" smtClean="0"/>
            <a:t>: Focus budget on visual Campaign A creative to drive top-of-funnel new customer acquisition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500" kern="1200" dirty="0" smtClean="0"/>
            <a:t>Optimize Web Banners: Pivot banner ad copy toward Campaign B promotional offers for retargeting</a:t>
          </a:r>
          <a:endParaRPr lang="en-GB" sz="1500" kern="1200" dirty="0"/>
        </a:p>
      </dsp:txBody>
      <dsp:txXfrm rot="-5400000">
        <a:off x="3094672" y="1489226"/>
        <a:ext cx="5452790" cy="902984"/>
      </dsp:txXfrm>
    </dsp:sp>
    <dsp:sp modelId="{D13BFE85-B139-4568-9513-272340F6CA25}">
      <dsp:nvSpPr>
        <dsp:cNvPr id="0" name=""/>
        <dsp:cNvSpPr/>
      </dsp:nvSpPr>
      <dsp:spPr>
        <a:xfrm>
          <a:off x="0" y="1315291"/>
          <a:ext cx="3094672" cy="125085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600" kern="1200" dirty="0" smtClean="0"/>
            <a:t>Channel Budget Reallocation</a:t>
          </a:r>
          <a:endParaRPr lang="en-GB" sz="2600" kern="1200" dirty="0"/>
        </a:p>
      </dsp:txBody>
      <dsp:txXfrm>
        <a:off x="61062" y="1376353"/>
        <a:ext cx="2972548" cy="1128729"/>
      </dsp:txXfrm>
    </dsp:sp>
    <dsp:sp modelId="{24D6F66F-AFA5-4D19-BDFE-F7F8E890C376}">
      <dsp:nvSpPr>
        <dsp:cNvPr id="0" name=""/>
        <dsp:cNvSpPr/>
      </dsp:nvSpPr>
      <dsp:spPr>
        <a:xfrm rot="5400000">
          <a:off x="5345150" y="503295"/>
          <a:ext cx="1000682" cy="550163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500" kern="1200" dirty="0" smtClean="0"/>
            <a:t>Implement automated </a:t>
          </a:r>
          <a:r>
            <a:rPr lang="en-GB" sz="1500" kern="1200" dirty="0" err="1" smtClean="0"/>
            <a:t>onboarding</a:t>
          </a:r>
          <a:r>
            <a:rPr lang="en-GB" sz="1500" kern="1200" dirty="0" smtClean="0"/>
            <a:t> sequences for first-time buyers and loyalty offers for repeat buyers</a:t>
          </a:r>
          <a:endParaRPr lang="en-GB" sz="1500" kern="1200" dirty="0"/>
        </a:p>
      </dsp:txBody>
      <dsp:txXfrm rot="-5400000">
        <a:off x="3094672" y="2802623"/>
        <a:ext cx="5452790" cy="902984"/>
      </dsp:txXfrm>
    </dsp:sp>
    <dsp:sp modelId="{696A5A5E-4A07-4BFA-AF07-39E30FE012AC}">
      <dsp:nvSpPr>
        <dsp:cNvPr id="0" name=""/>
        <dsp:cNvSpPr/>
      </dsp:nvSpPr>
      <dsp:spPr>
        <a:xfrm>
          <a:off x="0" y="2628688"/>
          <a:ext cx="3094672" cy="125085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600" kern="1200" dirty="0" smtClean="0"/>
            <a:t>Automate Email Lifecycle Journeys</a:t>
          </a:r>
          <a:endParaRPr lang="en-GB" sz="2600" kern="1200" dirty="0"/>
        </a:p>
      </dsp:txBody>
      <dsp:txXfrm>
        <a:off x="61062" y="2689750"/>
        <a:ext cx="2972548" cy="11287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92E021-0504-4ED5-AD02-DFFF4895A830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D993DC-B678-4C1F-A954-B58A762FCB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215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Blending brand messaging and promotional sales across all audiences leads to inefficient spend. Next quarter's capital must be split into two distinct funnels: </a:t>
            </a:r>
            <a:r>
              <a:rPr lang="en-GB" b="1" dirty="0" smtClean="0"/>
              <a:t>Acquisition vs. Retention</a:t>
            </a:r>
            <a:r>
              <a:rPr lang="en-GB" dirty="0" smtClean="0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D993DC-B678-4C1F-A954-B58A762FCBD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19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Unlocking Digital Marketing Efficiency</a:t>
            </a:r>
            <a:r>
              <a:rPr lang="en-GB" sz="3600" dirty="0" smtClean="0"/>
              <a:t>: </a:t>
            </a:r>
            <a:r>
              <a:rPr lang="en-GB" sz="3600" dirty="0"/>
              <a:t>Strategic Recommendations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>
                <a:solidFill>
                  <a:schemeClr val="tx1"/>
                </a:solidFill>
              </a:rPr>
              <a:t>NewCo</a:t>
            </a:r>
            <a:r>
              <a:rPr lang="en-GB" dirty="0">
                <a:solidFill>
                  <a:schemeClr val="tx1"/>
                </a:solidFill>
              </a:rPr>
              <a:t> Ad Campaign Performance Review </a:t>
            </a:r>
            <a:r>
              <a:rPr lang="en-GB" dirty="0" smtClean="0">
                <a:solidFill>
                  <a:schemeClr val="tx1"/>
                </a:solidFill>
              </a:rPr>
              <a:t>and </a:t>
            </a:r>
            <a:r>
              <a:rPr lang="en-GB" dirty="0">
                <a:solidFill>
                  <a:schemeClr val="tx1"/>
                </a:solidFill>
              </a:rPr>
              <a:t>Resource Allocation </a:t>
            </a:r>
            <a:r>
              <a:rPr lang="en-GB" dirty="0" smtClean="0">
                <a:solidFill>
                  <a:schemeClr val="tx1"/>
                </a:solidFill>
              </a:rPr>
              <a:t>Model</a:t>
            </a:r>
          </a:p>
          <a:p>
            <a:r>
              <a:rPr lang="en-GB" dirty="0" smtClean="0"/>
              <a:t>September 24, 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311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Executive Summary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4612788"/>
              </p:ext>
            </p:extLst>
          </p:nvPr>
        </p:nvGraphicFramePr>
        <p:xfrm>
          <a:off x="677334" y="1523999"/>
          <a:ext cx="9014692" cy="1967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0509" y="4267200"/>
            <a:ext cx="80633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recent digital campaign proved highly effective, but high-level metrics mask a critical divergence: Campaign A acts as an acquisition engine for new buyers, while Campaign B functions as a retention driver for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295065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Campaign Strategy Does Not Fit All Customer Segments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Campaign A (Acquisition Engine)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75745" y="3226773"/>
            <a:ext cx="4185623" cy="1474537"/>
          </a:xfrm>
        </p:spPr>
        <p:txBody>
          <a:bodyPr/>
          <a:lstStyle/>
          <a:p>
            <a:r>
              <a:rPr lang="en-GB" dirty="0"/>
              <a:t>Generates </a:t>
            </a:r>
            <a:r>
              <a:rPr lang="en-GB" b="1" dirty="0"/>
              <a:t>63.77%</a:t>
            </a:r>
            <a:r>
              <a:rPr lang="en-GB" dirty="0"/>
              <a:t> of all New Customer revenue ($3,726.99 out of $5,844.43)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GB" sz="2000" b="1" dirty="0"/>
              <a:t>Campaign B (Retention Engine)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088384" y="3226773"/>
            <a:ext cx="4185617" cy="1640791"/>
          </a:xfrm>
        </p:spPr>
        <p:txBody>
          <a:bodyPr/>
          <a:lstStyle/>
          <a:p>
            <a:r>
              <a:rPr lang="en-GB" dirty="0"/>
              <a:t>Drives </a:t>
            </a:r>
            <a:r>
              <a:rPr lang="en-GB" b="1" dirty="0"/>
              <a:t>75.69%</a:t>
            </a:r>
            <a:r>
              <a:rPr lang="en-GB" dirty="0"/>
              <a:t> of all Existing Customer revenue ($6,672.60 out of $8,815.17) and </a:t>
            </a:r>
            <a:r>
              <a:rPr lang="en-GB" b="1" dirty="0"/>
              <a:t>61.09%</a:t>
            </a:r>
            <a:r>
              <a:rPr lang="en-GB" dirty="0"/>
              <a:t> of total conversion volume (146 out of 239)</a:t>
            </a:r>
          </a:p>
        </p:txBody>
      </p:sp>
    </p:spTree>
    <p:extLst>
      <p:ext uri="{BB962C8B-B14F-4D97-AF65-F5344CB8AC3E}">
        <p14:creationId xmlns:p14="http://schemas.microsoft.com/office/powerpoint/2010/main" val="37280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77334" y="457200"/>
            <a:ext cx="3854528" cy="1814032"/>
          </a:xfrm>
        </p:spPr>
        <p:txBody>
          <a:bodyPr>
            <a:noAutofit/>
          </a:bodyPr>
          <a:lstStyle/>
          <a:p>
            <a:r>
              <a:rPr lang="en-GB" sz="2800" dirty="0"/>
              <a:t>Email Leads Revenue Contribution, Followed by </a:t>
            </a:r>
            <a:r>
              <a:rPr lang="en-GB" sz="2800" dirty="0" err="1" smtClean="0"/>
              <a:t>Instagram</a:t>
            </a:r>
            <a:r>
              <a:rPr lang="en-GB" sz="2800" dirty="0" smtClean="0"/>
              <a:t> and Web banner</a:t>
            </a:r>
            <a:endParaRPr lang="en-GB" sz="28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>
          <a:xfrm>
            <a:off x="677334" y="2417145"/>
            <a:ext cx="3854528" cy="367236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Email is the foundational revenue anchor across both new and existing buyers</a:t>
            </a:r>
            <a:r>
              <a:rPr lang="en-GB" sz="18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Instagram</a:t>
            </a:r>
            <a:r>
              <a:rPr lang="en-GB" sz="1800" dirty="0"/>
              <a:t> generates high top-of-funnel impact when paired with Campaign A messaging ($969.46 in new customer sales</a:t>
            </a:r>
            <a:r>
              <a:rPr lang="en-GB" sz="1800" dirty="0" smtClean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Web Banners deliver low acquisition revenue ($633.06) but perform strongly for retargeting existing users ($1,803.67)</a:t>
            </a: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797881"/>
              </p:ext>
            </p:extLst>
          </p:nvPr>
        </p:nvGraphicFramePr>
        <p:xfrm>
          <a:off x="4760913" y="514350"/>
          <a:ext cx="4513262" cy="552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672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83660"/>
            <a:ext cx="3854528" cy="1959945"/>
          </a:xfrm>
        </p:spPr>
        <p:txBody>
          <a:bodyPr>
            <a:noAutofit/>
          </a:bodyPr>
          <a:lstStyle/>
          <a:p>
            <a:r>
              <a:rPr lang="en-GB" sz="3200" dirty="0"/>
              <a:t>Email Delivers Highest Conversion Volume and Channel Efficiency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543605"/>
            <a:ext cx="3854528" cy="334162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Email converts traffic </a:t>
            </a:r>
            <a:r>
              <a:rPr lang="en-GB" sz="2000" dirty="0" smtClean="0"/>
              <a:t>at the highest rate compared to social </a:t>
            </a:r>
            <a:r>
              <a:rPr lang="en-GB" sz="2000" dirty="0"/>
              <a:t>and banner </a:t>
            </a:r>
            <a:r>
              <a:rPr lang="en-GB" sz="2000" dirty="0" smtClean="0"/>
              <a:t>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Instagram</a:t>
            </a:r>
            <a:r>
              <a:rPr lang="en-GB" sz="2000" dirty="0"/>
              <a:t> is the only channel where Campaign A generated more raw conversions than Campaign B (35 vs. 29), proving its value as an acquisition tool.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749941"/>
              </p:ext>
            </p:extLst>
          </p:nvPr>
        </p:nvGraphicFramePr>
        <p:xfrm>
          <a:off x="4760913" y="514350"/>
          <a:ext cx="4513262" cy="552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314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to Allocate Marketing Spend Next Quarter &amp; Why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6541273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9169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Set up audience suppression lists in ad managers to separate new vs. existing targets</a:t>
            </a:r>
            <a:r>
              <a:rPr lang="en-GB" sz="2400" dirty="0" smtClean="0"/>
              <a:t>.</a:t>
            </a:r>
          </a:p>
          <a:p>
            <a:r>
              <a:rPr lang="en-GB" sz="2400" dirty="0"/>
              <a:t>Re-allocate Q4 budget: 45% to Acquisition (Campaign A / </a:t>
            </a:r>
            <a:r>
              <a:rPr lang="en-GB" sz="2400" dirty="0" err="1"/>
              <a:t>Instagram</a:t>
            </a:r>
            <a:r>
              <a:rPr lang="en-GB" sz="2400" dirty="0"/>
              <a:t> </a:t>
            </a:r>
            <a:r>
              <a:rPr lang="en-GB" sz="2400" dirty="0" smtClean="0"/>
              <a:t>and </a:t>
            </a:r>
            <a:r>
              <a:rPr lang="en-GB" sz="2400" dirty="0"/>
              <a:t>Email) and 55% to Retention (Campaign B / Email &amp; Banners</a:t>
            </a:r>
            <a:r>
              <a:rPr lang="en-GB" sz="2400" dirty="0" smtClean="0"/>
              <a:t>).</a:t>
            </a:r>
          </a:p>
          <a:p>
            <a:r>
              <a:rPr lang="en-GB" sz="2400" dirty="0"/>
              <a:t>Establish bi-weekly dashboard tracking using the new dynamic console.</a:t>
            </a:r>
          </a:p>
        </p:txBody>
      </p:sp>
    </p:spTree>
    <p:extLst>
      <p:ext uri="{BB962C8B-B14F-4D97-AF65-F5344CB8AC3E}">
        <p14:creationId xmlns:p14="http://schemas.microsoft.com/office/powerpoint/2010/main" val="65200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69256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</TotalTime>
  <Words>429</Words>
  <Application>Microsoft Office PowerPoint</Application>
  <PresentationFormat>Widescreen</PresentationFormat>
  <Paragraphs>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Facet</vt:lpstr>
      <vt:lpstr>Unlocking Digital Marketing Efficiency: Strategic Recommendations</vt:lpstr>
      <vt:lpstr>Executive Summary</vt:lpstr>
      <vt:lpstr>One Campaign Strategy Does Not Fit All Customer Segments</vt:lpstr>
      <vt:lpstr>Email Leads Revenue Contribution, Followed by Instagram and Web banner</vt:lpstr>
      <vt:lpstr>Email Delivers Highest Conversion Volume and Channel Efficiency</vt:lpstr>
      <vt:lpstr>Where to Allocate Marketing Spend Next Quarter &amp; Why</vt:lpstr>
      <vt:lpstr>Implementation Roadmap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Digital Marketing Efficiency: Strategic Recommendations</dc:title>
  <dc:creator>Lenovo</dc:creator>
  <cp:lastModifiedBy>Lenovo</cp:lastModifiedBy>
  <cp:revision>8</cp:revision>
  <dcterms:created xsi:type="dcterms:W3CDTF">2026-09-23T22:14:11Z</dcterms:created>
  <dcterms:modified xsi:type="dcterms:W3CDTF">2026-09-23T23:47:08Z</dcterms:modified>
</cp:coreProperties>
</file>